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38912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10058400" cy="914400"/>
          </a:xfrm>
          <a:prstGeom prst="rect">
            <a:avLst/>
          </a:prstGeom>
          <a:noFill/>
        </p:spPr>
        <p:txBody>
          <a:bodyPr wrap="square">
            <a:spAutoFit/>
          </a:bodyPr>
          <a:lstStyle/>
          <a:p>
            <a:pPr algn="ctr"/>
            <a:r>
              <a:rPr sz="4000" b="1">
                <a:solidFill>
                  <a:srgbClr val="FFFFFF"/>
                </a:solidFill>
              </a:rPr>
              <a:t>Excel 拡張子問題</a:t>
            </a:r>
          </a:p>
        </p:txBody>
      </p:sp>
      <p:sp>
        <p:nvSpPr>
          <p:cNvPr id="6" name="TextBox 5"/>
          <p:cNvSpPr txBox="1"/>
          <p:nvPr/>
        </p:nvSpPr>
        <p:spPr>
          <a:xfrm>
            <a:off x="914400" y="2651760"/>
            <a:ext cx="10058400" cy="731520"/>
          </a:xfrm>
          <a:prstGeom prst="rect">
            <a:avLst/>
          </a:prstGeom>
          <a:noFill/>
        </p:spPr>
        <p:txBody>
          <a:bodyPr wrap="square">
            <a:spAutoFit/>
          </a:bodyPr>
          <a:lstStyle/>
          <a:p>
            <a:pPr algn="ctr"/>
            <a:r>
              <a:rPr sz="2400" b="0">
                <a:solidFill>
                  <a:srgbClr val="BDD7EE"/>
                </a:solidFill>
              </a:rPr>
              <a:t>対応方針のご説明</a:t>
            </a:r>
          </a:p>
        </p:txBody>
      </p:sp>
      <p:sp>
        <p:nvSpPr>
          <p:cNvPr id="7" name="TextBox 6"/>
          <p:cNvSpPr txBox="1"/>
          <p:nvPr/>
        </p:nvSpPr>
        <p:spPr>
          <a:xfrm>
            <a:off x="914400" y="3474720"/>
            <a:ext cx="10058400" cy="548640"/>
          </a:xfrm>
          <a:prstGeom prst="rect">
            <a:avLst/>
          </a:prstGeom>
          <a:noFill/>
        </p:spPr>
        <p:txBody>
          <a:bodyPr wrap="square">
            <a:spAutoFit/>
          </a:bodyPr>
          <a:lstStyle/>
          <a:p>
            <a:pPr algn="ctr"/>
            <a:r>
              <a:rPr sz="1600" b="0">
                <a:solidFill>
                  <a:srgbClr val="BDD7EE"/>
                </a:solidFill>
              </a:rPr>
              <a:t>xls → xlsx 変換対応について</a:t>
            </a:r>
          </a:p>
        </p:txBody>
      </p:sp>
      <p:sp>
        <p:nvSpPr>
          <p:cNvPr id="8" name="TextBox 7"/>
          <p:cNvSpPr txBox="1"/>
          <p:nvPr/>
        </p:nvSpPr>
        <p:spPr>
          <a:xfrm>
            <a:off x="914400" y="5943600"/>
            <a:ext cx="10058400" cy="457200"/>
          </a:xfrm>
          <a:prstGeom prst="rect">
            <a:avLst/>
          </a:prstGeom>
          <a:noFill/>
        </p:spPr>
        <p:txBody>
          <a:bodyPr wrap="square">
            <a:spAutoFit/>
          </a:bodyPr>
          <a:lstStyle/>
          <a:p>
            <a:pPr algn="ctr"/>
            <a:r>
              <a:rPr sz="1300" b="0">
                <a:solidFill>
                  <a:srgbClr val="BDD7EE"/>
                </a:solidFill>
              </a:rPr>
              <a:t>2026年5月20日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9144000" cy="731520"/>
          </a:xfrm>
          <a:prstGeom prst="rect">
            <a:avLst/>
          </a:prstGeom>
          <a:noFill/>
        </p:spPr>
        <p:txBody>
          <a:bodyPr wrap="square">
            <a:spAutoFit/>
          </a:bodyPr>
          <a:lstStyle/>
          <a:p>
            <a:pPr algn="l"/>
            <a:r>
              <a:rPr sz="2800" b="1">
                <a:solidFill>
                  <a:srgbClr val="FFFFFF"/>
                </a:solidFill>
              </a:rPr>
              <a:t>本日のご説明内容</a:t>
            </a:r>
          </a:p>
        </p:txBody>
      </p:sp>
      <p:sp>
        <p:nvSpPr>
          <p:cNvPr id="4" name="Rectangle 3"/>
          <p:cNvSpPr/>
          <p:nvPr/>
        </p:nvSpPr>
        <p:spPr>
          <a:xfrm>
            <a:off x="0" y="1097280"/>
            <a:ext cx="12188952" cy="365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92240"/>
            <a:ext cx="12188952" cy="36576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10972800" cy="274320"/>
          </a:xfrm>
          <a:prstGeom prst="rect">
            <a:avLst/>
          </a:prstGeom>
          <a:noFill/>
        </p:spPr>
        <p:txBody>
          <a:bodyPr wrap="square">
            <a:spAutoFit/>
          </a:bodyPr>
          <a:lstStyle/>
          <a:p>
            <a:pPr algn="l"/>
            <a:r>
              <a:rPr sz="1000" b="0">
                <a:solidFill>
                  <a:srgbClr val="FFFFFF"/>
                </a:solidFill>
              </a:rPr>
              <a:t>Excel拡張子問題 対応方針  |  1 / 5</a:t>
            </a:r>
          </a:p>
        </p:txBody>
      </p:sp>
      <p:sp>
        <p:nvSpPr>
          <p:cNvPr id="7" name="Rectangle 6"/>
          <p:cNvSpPr/>
          <p:nvPr/>
        </p:nvSpPr>
        <p:spPr>
          <a:xfrm>
            <a:off x="457200" y="1371600"/>
            <a:ext cx="914400" cy="6858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63040"/>
            <a:ext cx="914400" cy="502920"/>
          </a:xfrm>
          <a:prstGeom prst="rect">
            <a:avLst/>
          </a:prstGeom>
          <a:noFill/>
        </p:spPr>
        <p:txBody>
          <a:bodyPr wrap="square">
            <a:spAutoFit/>
          </a:bodyPr>
          <a:lstStyle/>
          <a:p>
            <a:pPr algn="ctr"/>
            <a:r>
              <a:rPr sz="1800" b="1">
                <a:solidFill>
                  <a:srgbClr val="FFFFFF"/>
                </a:solidFill>
              </a:rPr>
              <a:t>01</a:t>
            </a:r>
          </a:p>
        </p:txBody>
      </p:sp>
      <p:sp>
        <p:nvSpPr>
          <p:cNvPr id="9" name="Rectangle 8"/>
          <p:cNvSpPr/>
          <p:nvPr/>
        </p:nvSpPr>
        <p:spPr>
          <a:xfrm>
            <a:off x="1463040" y="1371600"/>
            <a:ext cx="9875520" cy="685800"/>
          </a:xfrm>
          <a:prstGeom prst="rect">
            <a:avLst/>
          </a:prstGeom>
          <a:solidFill>
            <a:srgbClr val="F2F2F2"/>
          </a:solidFill>
          <a:ln w="1270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45920" y="1389888"/>
            <a:ext cx="4114800" cy="365760"/>
          </a:xfrm>
          <a:prstGeom prst="rect">
            <a:avLst/>
          </a:prstGeom>
          <a:noFill/>
        </p:spPr>
        <p:txBody>
          <a:bodyPr wrap="square">
            <a:spAutoFit/>
          </a:bodyPr>
          <a:lstStyle/>
          <a:p>
            <a:pPr algn="l"/>
            <a:r>
              <a:rPr sz="1500" b="1">
                <a:solidFill>
                  <a:srgbClr val="1F3564"/>
                </a:solidFill>
              </a:rPr>
              <a:t>現状と課題</a:t>
            </a:r>
          </a:p>
        </p:txBody>
      </p:sp>
      <p:sp>
        <p:nvSpPr>
          <p:cNvPr id="11" name="TextBox 10"/>
          <p:cNvSpPr txBox="1"/>
          <p:nvPr/>
        </p:nvSpPr>
        <p:spPr>
          <a:xfrm>
            <a:off x="1645920" y="1719072"/>
            <a:ext cx="9144000" cy="320040"/>
          </a:xfrm>
          <a:prstGeom prst="rect">
            <a:avLst/>
          </a:prstGeom>
          <a:noFill/>
        </p:spPr>
        <p:txBody>
          <a:bodyPr wrap="square">
            <a:spAutoFit/>
          </a:bodyPr>
          <a:lstStyle/>
          <a:p>
            <a:pPr algn="l"/>
            <a:r>
              <a:rPr sz="1200" b="0">
                <a:solidFill>
                  <a:srgbClr val="404040"/>
                </a:solidFill>
              </a:rPr>
              <a:t>一部帳票がxls形式で出力される背景</a:t>
            </a:r>
          </a:p>
        </p:txBody>
      </p:sp>
      <p:sp>
        <p:nvSpPr>
          <p:cNvPr id="12" name="Rectangle 11"/>
          <p:cNvSpPr/>
          <p:nvPr/>
        </p:nvSpPr>
        <p:spPr>
          <a:xfrm>
            <a:off x="457200" y="2286000"/>
            <a:ext cx="914400" cy="6858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377440"/>
            <a:ext cx="914400" cy="502920"/>
          </a:xfrm>
          <a:prstGeom prst="rect">
            <a:avLst/>
          </a:prstGeom>
          <a:noFill/>
        </p:spPr>
        <p:txBody>
          <a:bodyPr wrap="square">
            <a:spAutoFit/>
          </a:bodyPr>
          <a:lstStyle/>
          <a:p>
            <a:pPr algn="ctr"/>
            <a:r>
              <a:rPr sz="1800" b="1">
                <a:solidFill>
                  <a:srgbClr val="FFFFFF"/>
                </a:solidFill>
              </a:rPr>
              <a:t>02</a:t>
            </a:r>
          </a:p>
        </p:txBody>
      </p:sp>
      <p:sp>
        <p:nvSpPr>
          <p:cNvPr id="14" name="Rectangle 13"/>
          <p:cNvSpPr/>
          <p:nvPr/>
        </p:nvSpPr>
        <p:spPr>
          <a:xfrm>
            <a:off x="1463040" y="2286000"/>
            <a:ext cx="9875520" cy="685800"/>
          </a:xfrm>
          <a:prstGeom prst="rect">
            <a:avLst/>
          </a:prstGeom>
          <a:solidFill>
            <a:srgbClr val="F2F2F2"/>
          </a:solidFill>
          <a:ln w="1270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45920" y="2304288"/>
            <a:ext cx="4114800" cy="365760"/>
          </a:xfrm>
          <a:prstGeom prst="rect">
            <a:avLst/>
          </a:prstGeom>
          <a:noFill/>
        </p:spPr>
        <p:txBody>
          <a:bodyPr wrap="square">
            <a:spAutoFit/>
          </a:bodyPr>
          <a:lstStyle/>
          <a:p>
            <a:pPr algn="l"/>
            <a:r>
              <a:rPr sz="1500" b="1">
                <a:solidFill>
                  <a:srgbClr val="1F3564"/>
                </a:solidFill>
              </a:rPr>
              <a:t>対応策 A　RPA活用</a:t>
            </a:r>
          </a:p>
        </p:txBody>
      </p:sp>
      <p:sp>
        <p:nvSpPr>
          <p:cNvPr id="16" name="TextBox 15"/>
          <p:cNvSpPr txBox="1"/>
          <p:nvPr/>
        </p:nvSpPr>
        <p:spPr>
          <a:xfrm>
            <a:off x="1645920" y="2633472"/>
            <a:ext cx="9144000" cy="320040"/>
          </a:xfrm>
          <a:prstGeom prst="rect">
            <a:avLst/>
          </a:prstGeom>
          <a:noFill/>
        </p:spPr>
        <p:txBody>
          <a:bodyPr wrap="square">
            <a:spAutoFit/>
          </a:bodyPr>
          <a:lstStyle/>
          <a:p>
            <a:pPr algn="l"/>
            <a:r>
              <a:rPr sz="1200" b="0">
                <a:solidFill>
                  <a:srgbClr val="404040"/>
                </a:solidFill>
              </a:rPr>
              <a:t>RPA による自動変換（2つの実現方式）</a:t>
            </a:r>
          </a:p>
        </p:txBody>
      </p:sp>
      <p:sp>
        <p:nvSpPr>
          <p:cNvPr id="17" name="Rectangle 16"/>
          <p:cNvSpPr/>
          <p:nvPr/>
        </p:nvSpPr>
        <p:spPr>
          <a:xfrm>
            <a:off x="457200" y="3200400"/>
            <a:ext cx="914400" cy="6858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291840"/>
            <a:ext cx="914400" cy="502920"/>
          </a:xfrm>
          <a:prstGeom prst="rect">
            <a:avLst/>
          </a:prstGeom>
          <a:noFill/>
        </p:spPr>
        <p:txBody>
          <a:bodyPr wrap="square">
            <a:spAutoFit/>
          </a:bodyPr>
          <a:lstStyle/>
          <a:p>
            <a:pPr algn="ctr"/>
            <a:r>
              <a:rPr sz="1800" b="1">
                <a:solidFill>
                  <a:srgbClr val="FFFFFF"/>
                </a:solidFill>
              </a:rPr>
              <a:t>03</a:t>
            </a:r>
          </a:p>
        </p:txBody>
      </p:sp>
      <p:sp>
        <p:nvSpPr>
          <p:cNvPr id="19" name="Rectangle 18"/>
          <p:cNvSpPr/>
          <p:nvPr/>
        </p:nvSpPr>
        <p:spPr>
          <a:xfrm>
            <a:off x="1463040" y="3200400"/>
            <a:ext cx="9875520" cy="685800"/>
          </a:xfrm>
          <a:prstGeom prst="rect">
            <a:avLst/>
          </a:prstGeom>
          <a:solidFill>
            <a:srgbClr val="F2F2F2"/>
          </a:solidFill>
          <a:ln w="1270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45920" y="3218688"/>
            <a:ext cx="4114800" cy="365760"/>
          </a:xfrm>
          <a:prstGeom prst="rect">
            <a:avLst/>
          </a:prstGeom>
          <a:noFill/>
        </p:spPr>
        <p:txBody>
          <a:bodyPr wrap="square">
            <a:spAutoFit/>
          </a:bodyPr>
          <a:lstStyle/>
          <a:p>
            <a:pPr algn="l"/>
            <a:r>
              <a:rPr sz="1500" b="1">
                <a:solidFill>
                  <a:srgbClr val="1F3564"/>
                </a:solidFill>
              </a:rPr>
              <a:t>対応策 B　帳票仕様見直し</a:t>
            </a:r>
          </a:p>
        </p:txBody>
      </p:sp>
      <p:sp>
        <p:nvSpPr>
          <p:cNvPr id="21" name="TextBox 20"/>
          <p:cNvSpPr txBox="1"/>
          <p:nvPr/>
        </p:nvSpPr>
        <p:spPr>
          <a:xfrm>
            <a:off x="1645920" y="3547872"/>
            <a:ext cx="9144000" cy="320040"/>
          </a:xfrm>
          <a:prstGeom prst="rect">
            <a:avLst/>
          </a:prstGeom>
          <a:noFill/>
        </p:spPr>
        <p:txBody>
          <a:bodyPr wrap="square">
            <a:spAutoFit/>
          </a:bodyPr>
          <a:lstStyle/>
          <a:p>
            <a:pPr algn="l"/>
            <a:r>
              <a:rPr sz="1200" b="0">
                <a:solidFill>
                  <a:srgbClr val="404040"/>
                </a:solidFill>
              </a:rPr>
              <a:t>テンプレート変更による xlsx 対応</a:t>
            </a:r>
          </a:p>
        </p:txBody>
      </p:sp>
      <p:sp>
        <p:nvSpPr>
          <p:cNvPr id="22" name="Rectangle 21"/>
          <p:cNvSpPr/>
          <p:nvPr/>
        </p:nvSpPr>
        <p:spPr>
          <a:xfrm>
            <a:off x="457200" y="4114800"/>
            <a:ext cx="914400" cy="6858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206240"/>
            <a:ext cx="914400" cy="502920"/>
          </a:xfrm>
          <a:prstGeom prst="rect">
            <a:avLst/>
          </a:prstGeom>
          <a:noFill/>
        </p:spPr>
        <p:txBody>
          <a:bodyPr wrap="square">
            <a:spAutoFit/>
          </a:bodyPr>
          <a:lstStyle/>
          <a:p>
            <a:pPr algn="ctr"/>
            <a:r>
              <a:rPr sz="1800" b="1">
                <a:solidFill>
                  <a:srgbClr val="FFFFFF"/>
                </a:solidFill>
              </a:rPr>
              <a:t>04</a:t>
            </a:r>
          </a:p>
        </p:txBody>
      </p:sp>
      <p:sp>
        <p:nvSpPr>
          <p:cNvPr id="24" name="Rectangle 23"/>
          <p:cNvSpPr/>
          <p:nvPr/>
        </p:nvSpPr>
        <p:spPr>
          <a:xfrm>
            <a:off x="1463040" y="4114800"/>
            <a:ext cx="9875520" cy="685800"/>
          </a:xfrm>
          <a:prstGeom prst="rect">
            <a:avLst/>
          </a:prstGeom>
          <a:solidFill>
            <a:srgbClr val="F2F2F2"/>
          </a:solidFill>
          <a:ln w="1270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45920" y="4133087"/>
            <a:ext cx="4114800" cy="365760"/>
          </a:xfrm>
          <a:prstGeom prst="rect">
            <a:avLst/>
          </a:prstGeom>
          <a:noFill/>
        </p:spPr>
        <p:txBody>
          <a:bodyPr wrap="square">
            <a:spAutoFit/>
          </a:bodyPr>
          <a:lstStyle/>
          <a:p>
            <a:pPr algn="l"/>
            <a:r>
              <a:rPr sz="1500" b="1">
                <a:solidFill>
                  <a:srgbClr val="1F3564"/>
                </a:solidFill>
              </a:rPr>
              <a:t>対応策の比較・推奨方針</a:t>
            </a:r>
          </a:p>
        </p:txBody>
      </p:sp>
      <p:sp>
        <p:nvSpPr>
          <p:cNvPr id="26" name="TextBox 25"/>
          <p:cNvSpPr txBox="1"/>
          <p:nvPr/>
        </p:nvSpPr>
        <p:spPr>
          <a:xfrm>
            <a:off x="1645920" y="4462272"/>
            <a:ext cx="9144000" cy="320040"/>
          </a:xfrm>
          <a:prstGeom prst="rect">
            <a:avLst/>
          </a:prstGeom>
          <a:noFill/>
        </p:spPr>
        <p:txBody>
          <a:bodyPr wrap="square">
            <a:spAutoFit/>
          </a:bodyPr>
          <a:lstStyle/>
          <a:p>
            <a:pPr algn="l"/>
            <a:r>
              <a:rPr sz="1200" b="0">
                <a:solidFill>
                  <a:srgbClr val="404040"/>
                </a:solidFill>
              </a:rPr>
              <a:t>メリット・デメリット・推奨フロー</a:t>
            </a:r>
          </a:p>
        </p:txBody>
      </p:sp>
      <p:sp>
        <p:nvSpPr>
          <p:cNvPr id="27" name="Rectangle 26"/>
          <p:cNvSpPr/>
          <p:nvPr/>
        </p:nvSpPr>
        <p:spPr>
          <a:xfrm>
            <a:off x="457200" y="5029200"/>
            <a:ext cx="914400" cy="6858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5120640"/>
            <a:ext cx="914400" cy="502920"/>
          </a:xfrm>
          <a:prstGeom prst="rect">
            <a:avLst/>
          </a:prstGeom>
          <a:noFill/>
        </p:spPr>
        <p:txBody>
          <a:bodyPr wrap="square">
            <a:spAutoFit/>
          </a:bodyPr>
          <a:lstStyle/>
          <a:p>
            <a:pPr algn="ctr"/>
            <a:r>
              <a:rPr sz="1800" b="1">
                <a:solidFill>
                  <a:srgbClr val="FFFFFF"/>
                </a:solidFill>
              </a:rPr>
              <a:t>05</a:t>
            </a:r>
          </a:p>
        </p:txBody>
      </p:sp>
      <p:sp>
        <p:nvSpPr>
          <p:cNvPr id="29" name="Rectangle 28"/>
          <p:cNvSpPr/>
          <p:nvPr/>
        </p:nvSpPr>
        <p:spPr>
          <a:xfrm>
            <a:off x="1463040" y="5029200"/>
            <a:ext cx="9875520" cy="685800"/>
          </a:xfrm>
          <a:prstGeom prst="rect">
            <a:avLst/>
          </a:prstGeom>
          <a:solidFill>
            <a:srgbClr val="F2F2F2"/>
          </a:solidFill>
          <a:ln w="1270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45920" y="5047488"/>
            <a:ext cx="4114800" cy="365760"/>
          </a:xfrm>
          <a:prstGeom prst="rect">
            <a:avLst/>
          </a:prstGeom>
          <a:noFill/>
        </p:spPr>
        <p:txBody>
          <a:bodyPr wrap="square">
            <a:spAutoFit/>
          </a:bodyPr>
          <a:lstStyle/>
          <a:p>
            <a:pPr algn="l"/>
            <a:r>
              <a:rPr sz="1500" b="1">
                <a:solidFill>
                  <a:srgbClr val="1F3564"/>
                </a:solidFill>
              </a:rPr>
              <a:t>次のアクション</a:t>
            </a:r>
          </a:p>
        </p:txBody>
      </p:sp>
      <p:sp>
        <p:nvSpPr>
          <p:cNvPr id="31" name="TextBox 30"/>
          <p:cNvSpPr txBox="1"/>
          <p:nvPr/>
        </p:nvSpPr>
        <p:spPr>
          <a:xfrm>
            <a:off x="1645920" y="5376672"/>
            <a:ext cx="9144000" cy="320040"/>
          </a:xfrm>
          <a:prstGeom prst="rect">
            <a:avLst/>
          </a:prstGeom>
          <a:noFill/>
        </p:spPr>
        <p:txBody>
          <a:bodyPr wrap="square">
            <a:spAutoFit/>
          </a:bodyPr>
          <a:lstStyle/>
          <a:p>
            <a:pPr algn="l"/>
            <a:r>
              <a:rPr sz="1200" b="0">
                <a:solidFill>
                  <a:srgbClr val="404040"/>
                </a:solidFill>
              </a:rPr>
              <a:t>お客様への確認事項</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9144000" cy="731520"/>
          </a:xfrm>
          <a:prstGeom prst="rect">
            <a:avLst/>
          </a:prstGeom>
          <a:noFill/>
        </p:spPr>
        <p:txBody>
          <a:bodyPr wrap="square">
            <a:spAutoFit/>
          </a:bodyPr>
          <a:lstStyle/>
          <a:p>
            <a:pPr algn="l"/>
            <a:r>
              <a:rPr sz="2800" b="1">
                <a:solidFill>
                  <a:srgbClr val="FFFFFF"/>
                </a:solidFill>
              </a:rPr>
              <a:t>現状と課題</a:t>
            </a:r>
          </a:p>
        </p:txBody>
      </p:sp>
      <p:sp>
        <p:nvSpPr>
          <p:cNvPr id="4" name="TextBox 3"/>
          <p:cNvSpPr txBox="1"/>
          <p:nvPr/>
        </p:nvSpPr>
        <p:spPr>
          <a:xfrm>
            <a:off x="365760" y="749808"/>
            <a:ext cx="9144000" cy="365760"/>
          </a:xfrm>
          <a:prstGeom prst="rect">
            <a:avLst/>
          </a:prstGeom>
          <a:noFill/>
        </p:spPr>
        <p:txBody>
          <a:bodyPr wrap="square">
            <a:spAutoFit/>
          </a:bodyPr>
          <a:lstStyle/>
          <a:p>
            <a:pPr algn="l"/>
            <a:r>
              <a:rPr sz="1300" b="0">
                <a:solidFill>
                  <a:srgbClr val="BDD7EE"/>
                </a:solidFill>
              </a:rPr>
              <a:t>なぜ xls のまま出力されているのか</a:t>
            </a:r>
          </a:p>
        </p:txBody>
      </p:sp>
      <p:sp>
        <p:nvSpPr>
          <p:cNvPr id="5" name="Rectangle 4"/>
          <p:cNvSpPr/>
          <p:nvPr/>
        </p:nvSpPr>
        <p:spPr>
          <a:xfrm>
            <a:off x="0" y="1097280"/>
            <a:ext cx="12188952" cy="365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0972800" cy="274320"/>
          </a:xfrm>
          <a:prstGeom prst="rect">
            <a:avLst/>
          </a:prstGeom>
          <a:noFill/>
        </p:spPr>
        <p:txBody>
          <a:bodyPr wrap="square">
            <a:spAutoFit/>
          </a:bodyPr>
          <a:lstStyle/>
          <a:p>
            <a:pPr algn="l"/>
            <a:r>
              <a:rPr sz="1000" b="0">
                <a:solidFill>
                  <a:srgbClr val="FFFFFF"/>
                </a:solidFill>
              </a:rPr>
              <a:t>Excel拡張子問題 対応方針  |  2 / 5</a:t>
            </a:r>
          </a:p>
        </p:txBody>
      </p:sp>
      <p:sp>
        <p:nvSpPr>
          <p:cNvPr id="8" name="Rectangle 7"/>
          <p:cNvSpPr/>
          <p:nvPr/>
        </p:nvSpPr>
        <p:spPr>
          <a:xfrm>
            <a:off x="365760" y="1280160"/>
            <a:ext cx="11430000" cy="1371600"/>
          </a:xfrm>
          <a:prstGeom prst="rect">
            <a:avLst/>
          </a:prstGeom>
          <a:solidFill>
            <a:srgbClr val="FFEBEB"/>
          </a:solidFill>
          <a:ln w="127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25880"/>
            <a:ext cx="2743200" cy="365760"/>
          </a:xfrm>
          <a:prstGeom prst="rect">
            <a:avLst/>
          </a:prstGeom>
          <a:noFill/>
        </p:spPr>
        <p:txBody>
          <a:bodyPr wrap="square">
            <a:spAutoFit/>
          </a:bodyPr>
          <a:lstStyle/>
          <a:p>
            <a:pPr algn="l"/>
            <a:r>
              <a:rPr sz="1300" b="1">
                <a:solidFill>
                  <a:srgbClr val="C00000"/>
                </a:solidFill>
              </a:rPr>
              <a:t>⚠  課題</a:t>
            </a:r>
          </a:p>
        </p:txBody>
      </p:sp>
      <p:sp>
        <p:nvSpPr>
          <p:cNvPr id="10" name="TextBox 9"/>
          <p:cNvSpPr txBox="1"/>
          <p:nvPr/>
        </p:nvSpPr>
        <p:spPr>
          <a:xfrm>
            <a:off x="548640" y="1664208"/>
            <a:ext cx="10972800" cy="411480"/>
          </a:xfrm>
          <a:prstGeom prst="rect">
            <a:avLst/>
          </a:prstGeom>
          <a:noFill/>
        </p:spPr>
        <p:txBody>
          <a:bodyPr wrap="square">
            <a:spAutoFit/>
          </a:bodyPr>
          <a:lstStyle/>
          <a:p>
            <a:pPr algn="l"/>
            <a:r>
              <a:rPr sz="1300" b="0">
                <a:solidFill>
                  <a:srgbClr val="000000"/>
                </a:solidFill>
              </a:rPr>
              <a:t>一部帳票が .xls 形式で出力されており、.xlsx での出力が望ましい状況です。</a:t>
            </a:r>
          </a:p>
        </p:txBody>
      </p:sp>
      <p:sp>
        <p:nvSpPr>
          <p:cNvPr id="11" name="Rectangle 10"/>
          <p:cNvSpPr/>
          <p:nvPr/>
        </p:nvSpPr>
        <p:spPr>
          <a:xfrm>
            <a:off x="365760" y="2788920"/>
            <a:ext cx="11430000" cy="1554480"/>
          </a:xfrm>
          <a:prstGeom prst="rect">
            <a:avLst/>
          </a:prstGeom>
          <a:solidFill>
            <a:srgbClr val="F2F2F2"/>
          </a:solidFill>
          <a:ln w="1270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34640"/>
            <a:ext cx="2743200" cy="365760"/>
          </a:xfrm>
          <a:prstGeom prst="rect">
            <a:avLst/>
          </a:prstGeom>
          <a:noFill/>
        </p:spPr>
        <p:txBody>
          <a:bodyPr wrap="square">
            <a:spAutoFit/>
          </a:bodyPr>
          <a:lstStyle/>
          <a:p>
            <a:pPr algn="l"/>
            <a:r>
              <a:rPr sz="1300" b="1">
                <a:solidFill>
                  <a:srgbClr val="1F3564"/>
                </a:solidFill>
              </a:rPr>
              <a:t>原因</a:t>
            </a:r>
          </a:p>
        </p:txBody>
      </p:sp>
      <p:sp>
        <p:nvSpPr>
          <p:cNvPr id="13" name="TextBox 12"/>
          <p:cNvSpPr txBox="1"/>
          <p:nvPr/>
        </p:nvSpPr>
        <p:spPr>
          <a:xfrm>
            <a:off x="640080" y="3200400"/>
            <a:ext cx="10789920" cy="411480"/>
          </a:xfrm>
          <a:prstGeom prst="rect">
            <a:avLst/>
          </a:prstGeom>
          <a:noFill/>
        </p:spPr>
        <p:txBody>
          <a:bodyPr wrap="square">
            <a:spAutoFit/>
          </a:bodyPr>
          <a:lstStyle/>
          <a:p>
            <a:pPr algn="l"/>
            <a:r>
              <a:rPr sz="1300" b="0">
                <a:solidFill>
                  <a:srgbClr val="000000"/>
                </a:solidFill>
              </a:rPr>
              <a:t>●  帳票の項目数が非常に多く、xlsx テンプレートへの直接変換が困難</a:t>
            </a:r>
          </a:p>
        </p:txBody>
      </p:sp>
      <p:sp>
        <p:nvSpPr>
          <p:cNvPr id="14" name="TextBox 13"/>
          <p:cNvSpPr txBox="1"/>
          <p:nvPr/>
        </p:nvSpPr>
        <p:spPr>
          <a:xfrm>
            <a:off x="640080" y="3657600"/>
            <a:ext cx="10789920" cy="411480"/>
          </a:xfrm>
          <a:prstGeom prst="rect">
            <a:avLst/>
          </a:prstGeom>
          <a:noFill/>
        </p:spPr>
        <p:txBody>
          <a:bodyPr wrap="square">
            <a:spAutoFit/>
          </a:bodyPr>
          <a:lstStyle/>
          <a:p>
            <a:pPr algn="l"/>
            <a:r>
              <a:rPr sz="1300" b="0">
                <a:solidFill>
                  <a:srgbClr val="000000"/>
                </a:solidFill>
              </a:rPr>
              <a:t>●  現状の仕様・構成のまま xls → xlsx へ変換することは難しい状況</a:t>
            </a:r>
          </a:p>
        </p:txBody>
      </p:sp>
      <p:sp>
        <p:nvSpPr>
          <p:cNvPr id="15" name="TextBox 14"/>
          <p:cNvSpPr txBox="1"/>
          <p:nvPr/>
        </p:nvSpPr>
        <p:spPr>
          <a:xfrm>
            <a:off x="4114800" y="4480560"/>
            <a:ext cx="5486400" cy="457200"/>
          </a:xfrm>
          <a:prstGeom prst="rect">
            <a:avLst/>
          </a:prstGeom>
          <a:noFill/>
        </p:spPr>
        <p:txBody>
          <a:bodyPr wrap="square">
            <a:spAutoFit/>
          </a:bodyPr>
          <a:lstStyle/>
          <a:p>
            <a:pPr algn="ctr"/>
            <a:r>
              <a:rPr sz="1400" b="1">
                <a:solidFill>
                  <a:srgbClr val="2E75B6"/>
                </a:solidFill>
              </a:rPr>
              <a:t>▼  対応策を検討します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9144000" cy="731520"/>
          </a:xfrm>
          <a:prstGeom prst="rect">
            <a:avLst/>
          </a:prstGeom>
          <a:noFill/>
        </p:spPr>
        <p:txBody>
          <a:bodyPr wrap="square">
            <a:spAutoFit/>
          </a:bodyPr>
          <a:lstStyle/>
          <a:p>
            <a:pPr algn="l"/>
            <a:r>
              <a:rPr sz="2800" b="1">
                <a:solidFill>
                  <a:srgbClr val="FFFFFF"/>
                </a:solidFill>
              </a:rPr>
              <a:t>対応策 A　RPA による自動変換</a:t>
            </a:r>
          </a:p>
        </p:txBody>
      </p:sp>
      <p:sp>
        <p:nvSpPr>
          <p:cNvPr id="4" name="TextBox 3"/>
          <p:cNvSpPr txBox="1"/>
          <p:nvPr/>
        </p:nvSpPr>
        <p:spPr>
          <a:xfrm>
            <a:off x="365760" y="749808"/>
            <a:ext cx="9144000" cy="365760"/>
          </a:xfrm>
          <a:prstGeom prst="rect">
            <a:avLst/>
          </a:prstGeom>
          <a:noFill/>
        </p:spPr>
        <p:txBody>
          <a:bodyPr wrap="square">
            <a:spAutoFit/>
          </a:bodyPr>
          <a:lstStyle/>
          <a:p>
            <a:pPr algn="l"/>
            <a:r>
              <a:rPr sz="1300" b="0">
                <a:solidFill>
                  <a:srgbClr val="BDD7EE"/>
                </a:solidFill>
              </a:rPr>
              <a:t>担当者への要件説明が前提となります</a:t>
            </a:r>
          </a:p>
        </p:txBody>
      </p:sp>
      <p:sp>
        <p:nvSpPr>
          <p:cNvPr id="5" name="Rectangle 4"/>
          <p:cNvSpPr/>
          <p:nvPr/>
        </p:nvSpPr>
        <p:spPr>
          <a:xfrm>
            <a:off x="0" y="1097280"/>
            <a:ext cx="12188952" cy="365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0972800" cy="274320"/>
          </a:xfrm>
          <a:prstGeom prst="rect">
            <a:avLst/>
          </a:prstGeom>
          <a:noFill/>
        </p:spPr>
        <p:txBody>
          <a:bodyPr wrap="square">
            <a:spAutoFit/>
          </a:bodyPr>
          <a:lstStyle/>
          <a:p>
            <a:pPr algn="l"/>
            <a:r>
              <a:rPr sz="1000" b="0">
                <a:solidFill>
                  <a:srgbClr val="FFFFFF"/>
                </a:solidFill>
              </a:rPr>
              <a:t>Excel拡張子問題 対応方針  |  3 / 5</a:t>
            </a:r>
          </a:p>
        </p:txBody>
      </p:sp>
      <p:sp>
        <p:nvSpPr>
          <p:cNvPr id="8" name="TextBox 7"/>
          <p:cNvSpPr txBox="1"/>
          <p:nvPr/>
        </p:nvSpPr>
        <p:spPr>
          <a:xfrm>
            <a:off x="365760" y="1234440"/>
            <a:ext cx="11430000" cy="457200"/>
          </a:xfrm>
          <a:prstGeom prst="rect">
            <a:avLst/>
          </a:prstGeom>
          <a:noFill/>
        </p:spPr>
        <p:txBody>
          <a:bodyPr wrap="square">
            <a:spAutoFit/>
          </a:bodyPr>
          <a:lstStyle/>
          <a:p>
            <a:pPr algn="l"/>
            <a:r>
              <a:rPr sz="1200" b="0">
                <a:solidFill>
                  <a:srgbClr val="404040"/>
                </a:solidFill>
              </a:rPr>
              <a:t>RPA を利用して xls → xlsx の自動変換を実現します。いずれの方式も、お客様から担当者への要件説明が必要です。</a:t>
            </a:r>
          </a:p>
        </p:txBody>
      </p:sp>
      <p:sp>
        <p:nvSpPr>
          <p:cNvPr id="9" name="Rectangle 8"/>
          <p:cNvSpPr/>
          <p:nvPr/>
        </p:nvSpPr>
        <p:spPr>
          <a:xfrm>
            <a:off x="365760" y="1783080"/>
            <a:ext cx="5394960" cy="3200400"/>
          </a:xfrm>
          <a:prstGeom prst="rect">
            <a:avLst/>
          </a:prstGeom>
          <a:solidFill>
            <a:srgbClr val="F2F2F2"/>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783080"/>
            <a:ext cx="5394960" cy="4572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810512"/>
            <a:ext cx="5029200" cy="411480"/>
          </a:xfrm>
          <a:prstGeom prst="rect">
            <a:avLst/>
          </a:prstGeom>
          <a:noFill/>
        </p:spPr>
        <p:txBody>
          <a:bodyPr wrap="square">
            <a:spAutoFit/>
          </a:bodyPr>
          <a:lstStyle/>
          <a:p>
            <a:pPr algn="l"/>
            <a:r>
              <a:rPr sz="1500" b="1">
                <a:solidFill>
                  <a:srgbClr val="FFFFFF"/>
                </a:solidFill>
              </a:rPr>
              <a:t>A-1　担当者が作成</a:t>
            </a:r>
          </a:p>
        </p:txBody>
      </p:sp>
      <p:sp>
        <p:nvSpPr>
          <p:cNvPr id="12" name="Rectangle 11"/>
          <p:cNvSpPr/>
          <p:nvPr/>
        </p:nvSpPr>
        <p:spPr>
          <a:xfrm>
            <a:off x="457200" y="2359152"/>
            <a:ext cx="1280160" cy="36576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404872"/>
            <a:ext cx="1280160" cy="320040"/>
          </a:xfrm>
          <a:prstGeom prst="rect">
            <a:avLst/>
          </a:prstGeom>
          <a:noFill/>
        </p:spPr>
        <p:txBody>
          <a:bodyPr wrap="square">
            <a:spAutoFit/>
          </a:bodyPr>
          <a:lstStyle/>
          <a:p>
            <a:pPr algn="ctr"/>
            <a:r>
              <a:rPr sz="1100" b="1">
                <a:solidFill>
                  <a:srgbClr val="FFFFFF"/>
                </a:solidFill>
              </a:rPr>
              <a:t>メリット</a:t>
            </a:r>
          </a:p>
        </p:txBody>
      </p:sp>
      <p:sp>
        <p:nvSpPr>
          <p:cNvPr id="14" name="TextBox 13"/>
          <p:cNvSpPr txBox="1"/>
          <p:nvPr/>
        </p:nvSpPr>
        <p:spPr>
          <a:xfrm>
            <a:off x="1828800" y="2404872"/>
            <a:ext cx="3749039" cy="640080"/>
          </a:xfrm>
          <a:prstGeom prst="rect">
            <a:avLst/>
          </a:prstGeom>
          <a:noFill/>
        </p:spPr>
        <p:txBody>
          <a:bodyPr wrap="square">
            <a:spAutoFit/>
          </a:bodyPr>
          <a:lstStyle/>
          <a:p>
            <a:pPr algn="l"/>
            <a:r>
              <a:rPr sz="1200" b="0">
                <a:solidFill>
                  <a:srgbClr val="000000"/>
                </a:solidFill>
              </a:rPr>
              <a:t>お客様側の工数が不要</a:t>
            </a:r>
          </a:p>
        </p:txBody>
      </p:sp>
      <p:sp>
        <p:nvSpPr>
          <p:cNvPr id="15" name="Rectangle 14"/>
          <p:cNvSpPr/>
          <p:nvPr/>
        </p:nvSpPr>
        <p:spPr>
          <a:xfrm>
            <a:off x="457200" y="3136392"/>
            <a:ext cx="1280160" cy="36576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182112"/>
            <a:ext cx="1280160" cy="320040"/>
          </a:xfrm>
          <a:prstGeom prst="rect">
            <a:avLst/>
          </a:prstGeom>
          <a:noFill/>
        </p:spPr>
        <p:txBody>
          <a:bodyPr wrap="square">
            <a:spAutoFit/>
          </a:bodyPr>
          <a:lstStyle/>
          <a:p>
            <a:pPr algn="ctr"/>
            <a:r>
              <a:rPr sz="1100" b="1">
                <a:solidFill>
                  <a:srgbClr val="FFFFFF"/>
                </a:solidFill>
              </a:rPr>
              <a:t>デメリット</a:t>
            </a:r>
          </a:p>
        </p:txBody>
      </p:sp>
      <p:sp>
        <p:nvSpPr>
          <p:cNvPr id="17" name="TextBox 16"/>
          <p:cNvSpPr txBox="1"/>
          <p:nvPr/>
        </p:nvSpPr>
        <p:spPr>
          <a:xfrm>
            <a:off x="1828800" y="3182112"/>
            <a:ext cx="3749039" cy="640080"/>
          </a:xfrm>
          <a:prstGeom prst="rect">
            <a:avLst/>
          </a:prstGeom>
          <a:noFill/>
        </p:spPr>
        <p:txBody>
          <a:bodyPr wrap="square">
            <a:spAutoFit/>
          </a:bodyPr>
          <a:lstStyle/>
          <a:p>
            <a:pPr algn="l"/>
            <a:r>
              <a:rPr sz="1200" b="0">
                <a:solidFill>
                  <a:srgbClr val="000000"/>
                </a:solidFill>
              </a:rPr>
              <a:t>順番待ちがあり、着手・完了時期が未定</a:t>
            </a:r>
          </a:p>
        </p:txBody>
      </p:sp>
      <p:sp>
        <p:nvSpPr>
          <p:cNvPr id="18" name="Rectangle 17"/>
          <p:cNvSpPr/>
          <p:nvPr/>
        </p:nvSpPr>
        <p:spPr>
          <a:xfrm>
            <a:off x="457200" y="3913632"/>
            <a:ext cx="1280160" cy="36576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959352"/>
            <a:ext cx="1280160" cy="320040"/>
          </a:xfrm>
          <a:prstGeom prst="rect">
            <a:avLst/>
          </a:prstGeom>
          <a:noFill/>
        </p:spPr>
        <p:txBody>
          <a:bodyPr wrap="square">
            <a:spAutoFit/>
          </a:bodyPr>
          <a:lstStyle/>
          <a:p>
            <a:pPr algn="ctr"/>
            <a:r>
              <a:rPr sz="1100" b="1">
                <a:solidFill>
                  <a:srgbClr val="FFFFFF"/>
                </a:solidFill>
              </a:rPr>
              <a:t>リスク</a:t>
            </a:r>
          </a:p>
        </p:txBody>
      </p:sp>
      <p:sp>
        <p:nvSpPr>
          <p:cNvPr id="20" name="TextBox 19"/>
          <p:cNvSpPr txBox="1"/>
          <p:nvPr/>
        </p:nvSpPr>
        <p:spPr>
          <a:xfrm>
            <a:off x="1828800" y="3959352"/>
            <a:ext cx="3749039" cy="640080"/>
          </a:xfrm>
          <a:prstGeom prst="rect">
            <a:avLst/>
          </a:prstGeom>
          <a:noFill/>
        </p:spPr>
        <p:txBody>
          <a:bodyPr wrap="square">
            <a:spAutoFit/>
          </a:bodyPr>
          <a:lstStyle/>
          <a:p>
            <a:pPr algn="l"/>
            <a:r>
              <a:rPr sz="1200" b="0">
                <a:solidFill>
                  <a:srgbClr val="000000"/>
                </a:solidFill>
              </a:rPr>
              <a:t>いつ実現できるか見通しが立てにくい</a:t>
            </a:r>
          </a:p>
        </p:txBody>
      </p:sp>
      <p:sp>
        <p:nvSpPr>
          <p:cNvPr id="21" name="Rectangle 20"/>
          <p:cNvSpPr/>
          <p:nvPr/>
        </p:nvSpPr>
        <p:spPr>
          <a:xfrm>
            <a:off x="6400800" y="1783080"/>
            <a:ext cx="5394960" cy="3200400"/>
          </a:xfrm>
          <a:prstGeom prst="rect">
            <a:avLst/>
          </a:prstGeom>
          <a:solidFill>
            <a:srgbClr val="F2F2F2"/>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0" y="1783080"/>
            <a:ext cx="5394960" cy="4572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1810512"/>
            <a:ext cx="5029200" cy="411480"/>
          </a:xfrm>
          <a:prstGeom prst="rect">
            <a:avLst/>
          </a:prstGeom>
          <a:noFill/>
        </p:spPr>
        <p:txBody>
          <a:bodyPr wrap="square">
            <a:spAutoFit/>
          </a:bodyPr>
          <a:lstStyle/>
          <a:p>
            <a:pPr algn="l"/>
            <a:r>
              <a:rPr sz="1500" b="1">
                <a:solidFill>
                  <a:srgbClr val="FFFFFF"/>
                </a:solidFill>
              </a:rPr>
              <a:t>A-2　お客様が作成</a:t>
            </a:r>
          </a:p>
        </p:txBody>
      </p:sp>
      <p:sp>
        <p:nvSpPr>
          <p:cNvPr id="24" name="Rectangle 23"/>
          <p:cNvSpPr/>
          <p:nvPr/>
        </p:nvSpPr>
        <p:spPr>
          <a:xfrm>
            <a:off x="6492240" y="2359152"/>
            <a:ext cx="1280160" cy="36576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2404872"/>
            <a:ext cx="1280160" cy="320040"/>
          </a:xfrm>
          <a:prstGeom prst="rect">
            <a:avLst/>
          </a:prstGeom>
          <a:noFill/>
        </p:spPr>
        <p:txBody>
          <a:bodyPr wrap="square">
            <a:spAutoFit/>
          </a:bodyPr>
          <a:lstStyle/>
          <a:p>
            <a:pPr algn="ctr"/>
            <a:r>
              <a:rPr sz="1100" b="1">
                <a:solidFill>
                  <a:srgbClr val="FFFFFF"/>
                </a:solidFill>
              </a:rPr>
              <a:t>メリット</a:t>
            </a:r>
          </a:p>
        </p:txBody>
      </p:sp>
      <p:sp>
        <p:nvSpPr>
          <p:cNvPr id="26" name="TextBox 25"/>
          <p:cNvSpPr txBox="1"/>
          <p:nvPr/>
        </p:nvSpPr>
        <p:spPr>
          <a:xfrm>
            <a:off x="7863840" y="2404872"/>
            <a:ext cx="3749039" cy="640080"/>
          </a:xfrm>
          <a:prstGeom prst="rect">
            <a:avLst/>
          </a:prstGeom>
          <a:noFill/>
        </p:spPr>
        <p:txBody>
          <a:bodyPr wrap="square">
            <a:spAutoFit/>
          </a:bodyPr>
          <a:lstStyle/>
          <a:p>
            <a:pPr algn="l"/>
            <a:r>
              <a:rPr sz="1200" b="0">
                <a:solidFill>
                  <a:srgbClr val="000000"/>
                </a:solidFill>
              </a:rPr>
              <a:t>調整次第ですぐ着手可能</a:t>
            </a:r>
          </a:p>
        </p:txBody>
      </p:sp>
      <p:sp>
        <p:nvSpPr>
          <p:cNvPr id="27" name="Rectangle 26"/>
          <p:cNvSpPr/>
          <p:nvPr/>
        </p:nvSpPr>
        <p:spPr>
          <a:xfrm>
            <a:off x="6492240" y="3136392"/>
            <a:ext cx="1280160" cy="36576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3182112"/>
            <a:ext cx="1280160" cy="320040"/>
          </a:xfrm>
          <a:prstGeom prst="rect">
            <a:avLst/>
          </a:prstGeom>
          <a:noFill/>
        </p:spPr>
        <p:txBody>
          <a:bodyPr wrap="square">
            <a:spAutoFit/>
          </a:bodyPr>
          <a:lstStyle/>
          <a:p>
            <a:pPr algn="ctr"/>
            <a:r>
              <a:rPr sz="1100" b="1">
                <a:solidFill>
                  <a:srgbClr val="FFFFFF"/>
                </a:solidFill>
              </a:rPr>
              <a:t>デメリット</a:t>
            </a:r>
          </a:p>
        </p:txBody>
      </p:sp>
      <p:sp>
        <p:nvSpPr>
          <p:cNvPr id="29" name="TextBox 28"/>
          <p:cNvSpPr txBox="1"/>
          <p:nvPr/>
        </p:nvSpPr>
        <p:spPr>
          <a:xfrm>
            <a:off x="7863840" y="3182112"/>
            <a:ext cx="3749039" cy="640080"/>
          </a:xfrm>
          <a:prstGeom prst="rect">
            <a:avLst/>
          </a:prstGeom>
          <a:noFill/>
        </p:spPr>
        <p:txBody>
          <a:bodyPr wrap="square">
            <a:spAutoFit/>
          </a:bodyPr>
          <a:lstStyle/>
          <a:p>
            <a:pPr algn="l"/>
            <a:r>
              <a:rPr sz="1200" b="0">
                <a:solidFill>
                  <a:srgbClr val="000000"/>
                </a:solidFill>
              </a:rPr>
              <a:t>お客様側の工数が必要</a:t>
            </a:r>
          </a:p>
        </p:txBody>
      </p:sp>
      <p:sp>
        <p:nvSpPr>
          <p:cNvPr id="30" name="Rectangle 29"/>
          <p:cNvSpPr/>
          <p:nvPr/>
        </p:nvSpPr>
        <p:spPr>
          <a:xfrm>
            <a:off x="6492240" y="3913632"/>
            <a:ext cx="1280160" cy="36576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3959352"/>
            <a:ext cx="1280160" cy="320040"/>
          </a:xfrm>
          <a:prstGeom prst="rect">
            <a:avLst/>
          </a:prstGeom>
          <a:noFill/>
        </p:spPr>
        <p:txBody>
          <a:bodyPr wrap="square">
            <a:spAutoFit/>
          </a:bodyPr>
          <a:lstStyle/>
          <a:p>
            <a:pPr algn="ctr"/>
            <a:r>
              <a:rPr sz="1100" b="1">
                <a:solidFill>
                  <a:srgbClr val="FFFFFF"/>
                </a:solidFill>
              </a:rPr>
              <a:t>確認</a:t>
            </a:r>
          </a:p>
        </p:txBody>
      </p:sp>
      <p:sp>
        <p:nvSpPr>
          <p:cNvPr id="32" name="TextBox 31"/>
          <p:cNvSpPr txBox="1"/>
          <p:nvPr/>
        </p:nvSpPr>
        <p:spPr>
          <a:xfrm>
            <a:off x="7863840" y="3959352"/>
            <a:ext cx="3749039" cy="640080"/>
          </a:xfrm>
          <a:prstGeom prst="rect">
            <a:avLst/>
          </a:prstGeom>
          <a:noFill/>
        </p:spPr>
        <p:txBody>
          <a:bodyPr wrap="square">
            <a:spAutoFit/>
          </a:bodyPr>
          <a:lstStyle/>
          <a:p>
            <a:pPr algn="l"/>
            <a:r>
              <a:rPr sz="1200" b="0">
                <a:solidFill>
                  <a:srgbClr val="000000"/>
                </a:solidFill>
              </a:rPr>
              <a:t>対応リソースの確保が前提条件</a:t>
            </a:r>
          </a:p>
        </p:txBody>
      </p:sp>
      <p:sp>
        <p:nvSpPr>
          <p:cNvPr id="33" name="TextBox 32"/>
          <p:cNvSpPr txBox="1"/>
          <p:nvPr/>
        </p:nvSpPr>
        <p:spPr>
          <a:xfrm>
            <a:off x="365760" y="5120640"/>
            <a:ext cx="11430000" cy="502920"/>
          </a:xfrm>
          <a:prstGeom prst="rect">
            <a:avLst/>
          </a:prstGeom>
          <a:noFill/>
        </p:spPr>
        <p:txBody>
          <a:bodyPr wrap="square">
            <a:spAutoFit/>
          </a:bodyPr>
          <a:lstStyle/>
          <a:p>
            <a:pPr algn="l"/>
            <a:r>
              <a:rPr sz="1200" b="1">
                <a:solidFill>
                  <a:srgbClr val="ED7D31"/>
                </a:solidFill>
              </a:rPr>
              <a:t>★ 推奨：A-2 を優先しつつ、A-1 への申請も並行して進めることで早期実現の可能性を高められます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9144000" cy="731520"/>
          </a:xfrm>
          <a:prstGeom prst="rect">
            <a:avLst/>
          </a:prstGeom>
          <a:noFill/>
        </p:spPr>
        <p:txBody>
          <a:bodyPr wrap="square">
            <a:spAutoFit/>
          </a:bodyPr>
          <a:lstStyle/>
          <a:p>
            <a:pPr algn="l"/>
            <a:r>
              <a:rPr sz="2800" b="1">
                <a:solidFill>
                  <a:srgbClr val="FFFFFF"/>
                </a:solidFill>
              </a:rPr>
              <a:t>対応策 B　帳票仕様の見直し</a:t>
            </a:r>
          </a:p>
        </p:txBody>
      </p:sp>
      <p:sp>
        <p:nvSpPr>
          <p:cNvPr id="4" name="TextBox 3"/>
          <p:cNvSpPr txBox="1"/>
          <p:nvPr/>
        </p:nvSpPr>
        <p:spPr>
          <a:xfrm>
            <a:off x="365760" y="749808"/>
            <a:ext cx="9144000" cy="365760"/>
          </a:xfrm>
          <a:prstGeom prst="rect">
            <a:avLst/>
          </a:prstGeom>
          <a:noFill/>
        </p:spPr>
        <p:txBody>
          <a:bodyPr wrap="square">
            <a:spAutoFit/>
          </a:bodyPr>
          <a:lstStyle/>
          <a:p>
            <a:pPr algn="l"/>
            <a:r>
              <a:rPr sz="1300" b="0">
                <a:solidFill>
                  <a:srgbClr val="BDD7EE"/>
                </a:solidFill>
              </a:rPr>
              <a:t>テンプレート変更による xlsx 対応</a:t>
            </a:r>
          </a:p>
        </p:txBody>
      </p:sp>
      <p:sp>
        <p:nvSpPr>
          <p:cNvPr id="5" name="Rectangle 4"/>
          <p:cNvSpPr/>
          <p:nvPr/>
        </p:nvSpPr>
        <p:spPr>
          <a:xfrm>
            <a:off x="0" y="1097280"/>
            <a:ext cx="12188952" cy="365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0972800" cy="274320"/>
          </a:xfrm>
          <a:prstGeom prst="rect">
            <a:avLst/>
          </a:prstGeom>
          <a:noFill/>
        </p:spPr>
        <p:txBody>
          <a:bodyPr wrap="square">
            <a:spAutoFit/>
          </a:bodyPr>
          <a:lstStyle/>
          <a:p>
            <a:pPr algn="l"/>
            <a:r>
              <a:rPr sz="1000" b="0">
                <a:solidFill>
                  <a:srgbClr val="FFFFFF"/>
                </a:solidFill>
              </a:rPr>
              <a:t>Excel拡張子問題 対応方針  |  4 / 5</a:t>
            </a:r>
          </a:p>
        </p:txBody>
      </p:sp>
      <p:sp>
        <p:nvSpPr>
          <p:cNvPr id="8" name="TextBox 7"/>
          <p:cNvSpPr txBox="1"/>
          <p:nvPr/>
        </p:nvSpPr>
        <p:spPr>
          <a:xfrm>
            <a:off x="365760" y="1234440"/>
            <a:ext cx="11430000" cy="365760"/>
          </a:xfrm>
          <a:prstGeom prst="rect">
            <a:avLst/>
          </a:prstGeom>
          <a:noFill/>
        </p:spPr>
        <p:txBody>
          <a:bodyPr wrap="square">
            <a:spAutoFit/>
          </a:bodyPr>
          <a:lstStyle/>
          <a:p>
            <a:pPr algn="l"/>
            <a:r>
              <a:rPr sz="1200" b="0">
                <a:solidFill>
                  <a:srgbClr val="404040"/>
                </a:solidFill>
              </a:rPr>
              <a:t>帳票テンプレート自体を変更し、xlsx に対応させる方法です。</a:t>
            </a:r>
          </a:p>
        </p:txBody>
      </p:sp>
      <p:sp>
        <p:nvSpPr>
          <p:cNvPr id="9" name="Rectangle 8"/>
          <p:cNvSpPr/>
          <p:nvPr/>
        </p:nvSpPr>
        <p:spPr>
          <a:xfrm>
            <a:off x="365760" y="1691640"/>
            <a:ext cx="11430000" cy="868680"/>
          </a:xfrm>
          <a:prstGeom prst="rect">
            <a:avLst/>
          </a:prstGeom>
          <a:solidFill>
            <a:srgbClr val="F2F2F2"/>
          </a:solidFill>
          <a:ln w="1270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691640"/>
            <a:ext cx="731520" cy="8686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874520"/>
            <a:ext cx="731520" cy="502920"/>
          </a:xfrm>
          <a:prstGeom prst="rect">
            <a:avLst/>
          </a:prstGeom>
          <a:noFill/>
        </p:spPr>
        <p:txBody>
          <a:bodyPr wrap="square">
            <a:spAutoFit/>
          </a:bodyPr>
          <a:lstStyle/>
          <a:p>
            <a:pPr algn="ctr"/>
            <a:r>
              <a:rPr sz="1200" b="1">
                <a:solidFill>
                  <a:srgbClr val="FFFFFF"/>
                </a:solidFill>
              </a:rPr>
              <a:t>B-1</a:t>
            </a:r>
          </a:p>
        </p:txBody>
      </p:sp>
      <p:sp>
        <p:nvSpPr>
          <p:cNvPr id="12" name="TextBox 11"/>
          <p:cNvSpPr txBox="1"/>
          <p:nvPr/>
        </p:nvSpPr>
        <p:spPr>
          <a:xfrm>
            <a:off x="1234440" y="1764792"/>
            <a:ext cx="3200400" cy="365760"/>
          </a:xfrm>
          <a:prstGeom prst="rect">
            <a:avLst/>
          </a:prstGeom>
          <a:noFill/>
        </p:spPr>
        <p:txBody>
          <a:bodyPr wrap="square">
            <a:spAutoFit/>
          </a:bodyPr>
          <a:lstStyle/>
          <a:p>
            <a:pPr algn="l"/>
            <a:r>
              <a:rPr sz="1400" b="1">
                <a:solidFill>
                  <a:srgbClr val="1F3564"/>
                </a:solidFill>
              </a:rPr>
              <a:t>帳票を分割</a:t>
            </a:r>
          </a:p>
        </p:txBody>
      </p:sp>
      <p:sp>
        <p:nvSpPr>
          <p:cNvPr id="13" name="TextBox 12"/>
          <p:cNvSpPr txBox="1"/>
          <p:nvPr/>
        </p:nvSpPr>
        <p:spPr>
          <a:xfrm>
            <a:off x="1234440" y="2130552"/>
            <a:ext cx="10058400" cy="365760"/>
          </a:xfrm>
          <a:prstGeom prst="rect">
            <a:avLst/>
          </a:prstGeom>
          <a:noFill/>
        </p:spPr>
        <p:txBody>
          <a:bodyPr wrap="square">
            <a:spAutoFit/>
          </a:bodyPr>
          <a:lstStyle/>
          <a:p>
            <a:pPr algn="l"/>
            <a:r>
              <a:rPr sz="1200" b="0">
                <a:solidFill>
                  <a:srgbClr val="000000"/>
                </a:solidFill>
              </a:rPr>
              <a:t>項目数を減らし、複数シート・複数ファイルに分割する</a:t>
            </a:r>
          </a:p>
        </p:txBody>
      </p:sp>
      <p:sp>
        <p:nvSpPr>
          <p:cNvPr id="14" name="Rectangle 13"/>
          <p:cNvSpPr/>
          <p:nvPr/>
        </p:nvSpPr>
        <p:spPr>
          <a:xfrm>
            <a:off x="365760" y="2697480"/>
            <a:ext cx="11430000" cy="868680"/>
          </a:xfrm>
          <a:prstGeom prst="rect">
            <a:avLst/>
          </a:prstGeom>
          <a:solidFill>
            <a:srgbClr val="F2F2F2"/>
          </a:solidFill>
          <a:ln w="1270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697480"/>
            <a:ext cx="731520" cy="8686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2880360"/>
            <a:ext cx="731520" cy="502920"/>
          </a:xfrm>
          <a:prstGeom prst="rect">
            <a:avLst/>
          </a:prstGeom>
          <a:noFill/>
        </p:spPr>
        <p:txBody>
          <a:bodyPr wrap="square">
            <a:spAutoFit/>
          </a:bodyPr>
          <a:lstStyle/>
          <a:p>
            <a:pPr algn="ctr"/>
            <a:r>
              <a:rPr sz="1200" b="1">
                <a:solidFill>
                  <a:srgbClr val="FFFFFF"/>
                </a:solidFill>
              </a:rPr>
              <a:t>B-2</a:t>
            </a:r>
          </a:p>
        </p:txBody>
      </p:sp>
      <p:sp>
        <p:nvSpPr>
          <p:cNvPr id="17" name="TextBox 16"/>
          <p:cNvSpPr txBox="1"/>
          <p:nvPr/>
        </p:nvSpPr>
        <p:spPr>
          <a:xfrm>
            <a:off x="1234440" y="2770632"/>
            <a:ext cx="3200400" cy="365760"/>
          </a:xfrm>
          <a:prstGeom prst="rect">
            <a:avLst/>
          </a:prstGeom>
          <a:noFill/>
        </p:spPr>
        <p:txBody>
          <a:bodyPr wrap="square">
            <a:spAutoFit/>
          </a:bodyPr>
          <a:lstStyle/>
          <a:p>
            <a:pPr algn="l"/>
            <a:r>
              <a:rPr sz="1400" b="1">
                <a:solidFill>
                  <a:srgbClr val="1F3564"/>
                </a:solidFill>
              </a:rPr>
              <a:t>CSV等に変更</a:t>
            </a:r>
          </a:p>
        </p:txBody>
      </p:sp>
      <p:sp>
        <p:nvSpPr>
          <p:cNvPr id="18" name="TextBox 17"/>
          <p:cNvSpPr txBox="1"/>
          <p:nvPr/>
        </p:nvSpPr>
        <p:spPr>
          <a:xfrm>
            <a:off x="1234440" y="3136392"/>
            <a:ext cx="10058400" cy="365760"/>
          </a:xfrm>
          <a:prstGeom prst="rect">
            <a:avLst/>
          </a:prstGeom>
          <a:noFill/>
        </p:spPr>
        <p:txBody>
          <a:bodyPr wrap="square">
            <a:spAutoFit/>
          </a:bodyPr>
          <a:lstStyle/>
          <a:p>
            <a:pPr algn="l"/>
            <a:r>
              <a:rPr sz="1200" b="0">
                <a:solidFill>
                  <a:srgbClr val="000000"/>
                </a:solidFill>
              </a:rPr>
              <a:t>帳票形式をCSV等に変更する（見た目・レイアウトが変わります）</a:t>
            </a:r>
          </a:p>
        </p:txBody>
      </p:sp>
      <p:sp>
        <p:nvSpPr>
          <p:cNvPr id="19" name="Rectangle 18"/>
          <p:cNvSpPr/>
          <p:nvPr/>
        </p:nvSpPr>
        <p:spPr>
          <a:xfrm>
            <a:off x="365760" y="3794760"/>
            <a:ext cx="11430000" cy="1874519"/>
          </a:xfrm>
          <a:prstGeom prst="rect">
            <a:avLst/>
          </a:prstGeom>
          <a:solidFill>
            <a:srgbClr val="FFF4E0"/>
          </a:solidFill>
          <a:ln w="1270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840480"/>
            <a:ext cx="3657600" cy="365760"/>
          </a:xfrm>
          <a:prstGeom prst="rect">
            <a:avLst/>
          </a:prstGeom>
          <a:noFill/>
        </p:spPr>
        <p:txBody>
          <a:bodyPr wrap="square">
            <a:spAutoFit/>
          </a:bodyPr>
          <a:lstStyle/>
          <a:p>
            <a:pPr algn="l"/>
            <a:r>
              <a:rPr sz="1300" b="1">
                <a:solidFill>
                  <a:srgbClr val="ED7D31"/>
                </a:solidFill>
              </a:rPr>
              <a:t>⚠  注意事項</a:t>
            </a:r>
          </a:p>
        </p:txBody>
      </p:sp>
      <p:sp>
        <p:nvSpPr>
          <p:cNvPr id="21" name="TextBox 20"/>
          <p:cNvSpPr txBox="1"/>
          <p:nvPr/>
        </p:nvSpPr>
        <p:spPr>
          <a:xfrm>
            <a:off x="548640" y="4251960"/>
            <a:ext cx="10972800" cy="402336"/>
          </a:xfrm>
          <a:prstGeom prst="rect">
            <a:avLst/>
          </a:prstGeom>
          <a:noFill/>
        </p:spPr>
        <p:txBody>
          <a:bodyPr wrap="square">
            <a:spAutoFit/>
          </a:bodyPr>
          <a:lstStyle/>
          <a:p>
            <a:pPr algn="l"/>
            <a:r>
              <a:rPr sz="1200" b="0">
                <a:solidFill>
                  <a:srgbClr val="000000"/>
                </a:solidFill>
              </a:rPr>
              <a:t>●  エンドユーザーが現行帳票のレイアウトにこだわりがある場合、調整・合意が必要</a:t>
            </a:r>
          </a:p>
        </p:txBody>
      </p:sp>
      <p:sp>
        <p:nvSpPr>
          <p:cNvPr id="22" name="TextBox 21"/>
          <p:cNvSpPr txBox="1"/>
          <p:nvPr/>
        </p:nvSpPr>
        <p:spPr>
          <a:xfrm>
            <a:off x="548640" y="4672584"/>
            <a:ext cx="10972800" cy="402336"/>
          </a:xfrm>
          <a:prstGeom prst="rect">
            <a:avLst/>
          </a:prstGeom>
          <a:noFill/>
        </p:spPr>
        <p:txBody>
          <a:bodyPr wrap="square">
            <a:spAutoFit/>
          </a:bodyPr>
          <a:lstStyle/>
          <a:p>
            <a:pPr algn="l"/>
            <a:r>
              <a:rPr sz="1200" b="0">
                <a:solidFill>
                  <a:srgbClr val="000000"/>
                </a:solidFill>
              </a:rPr>
              <a:t>●  帳票の在り方（様式・項目）に変更が生じるため、関係者との合意形成が前提</a:t>
            </a:r>
          </a:p>
        </p:txBody>
      </p:sp>
      <p:sp>
        <p:nvSpPr>
          <p:cNvPr id="23" name="TextBox 22"/>
          <p:cNvSpPr txBox="1"/>
          <p:nvPr/>
        </p:nvSpPr>
        <p:spPr>
          <a:xfrm>
            <a:off x="548640" y="5093208"/>
            <a:ext cx="10972800" cy="402336"/>
          </a:xfrm>
          <a:prstGeom prst="rect">
            <a:avLst/>
          </a:prstGeom>
          <a:noFill/>
        </p:spPr>
        <p:txBody>
          <a:bodyPr wrap="square">
            <a:spAutoFit/>
          </a:bodyPr>
          <a:lstStyle/>
          <a:p>
            <a:pPr algn="l"/>
            <a:r>
              <a:rPr sz="1200" b="0">
                <a:solidFill>
                  <a:srgbClr val="000000"/>
                </a:solidFill>
              </a:rPr>
              <a:t>●  修正工数については別途見積もりをご提示します（現時点では未確定）</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9144000" cy="731520"/>
          </a:xfrm>
          <a:prstGeom prst="rect">
            <a:avLst/>
          </a:prstGeom>
          <a:noFill/>
        </p:spPr>
        <p:txBody>
          <a:bodyPr wrap="square">
            <a:spAutoFit/>
          </a:bodyPr>
          <a:lstStyle/>
          <a:p>
            <a:pPr algn="l"/>
            <a:r>
              <a:rPr sz="2800" b="1">
                <a:solidFill>
                  <a:srgbClr val="FFFFFF"/>
                </a:solidFill>
              </a:rPr>
              <a:t>次のアクション　／　確認事項</a:t>
            </a:r>
          </a:p>
        </p:txBody>
      </p:sp>
      <p:sp>
        <p:nvSpPr>
          <p:cNvPr id="4" name="TextBox 3"/>
          <p:cNvSpPr txBox="1"/>
          <p:nvPr/>
        </p:nvSpPr>
        <p:spPr>
          <a:xfrm>
            <a:off x="365760" y="749808"/>
            <a:ext cx="9144000" cy="365760"/>
          </a:xfrm>
          <a:prstGeom prst="rect">
            <a:avLst/>
          </a:prstGeom>
          <a:noFill/>
        </p:spPr>
        <p:txBody>
          <a:bodyPr wrap="square">
            <a:spAutoFit/>
          </a:bodyPr>
          <a:lstStyle/>
          <a:p>
            <a:pPr algn="l"/>
            <a:r>
              <a:rPr sz="1300" b="0">
                <a:solidFill>
                  <a:srgbClr val="BDD7EE"/>
                </a:solidFill>
              </a:rPr>
              <a:t>お客様にご確認いただきたい事項</a:t>
            </a:r>
          </a:p>
        </p:txBody>
      </p:sp>
      <p:sp>
        <p:nvSpPr>
          <p:cNvPr id="5" name="Rectangle 4"/>
          <p:cNvSpPr/>
          <p:nvPr/>
        </p:nvSpPr>
        <p:spPr>
          <a:xfrm>
            <a:off x="0" y="1097280"/>
            <a:ext cx="12188952" cy="365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0972800" cy="274320"/>
          </a:xfrm>
          <a:prstGeom prst="rect">
            <a:avLst/>
          </a:prstGeom>
          <a:noFill/>
        </p:spPr>
        <p:txBody>
          <a:bodyPr wrap="square">
            <a:spAutoFit/>
          </a:bodyPr>
          <a:lstStyle/>
          <a:p>
            <a:pPr algn="l"/>
            <a:r>
              <a:rPr sz="1000" b="0">
                <a:solidFill>
                  <a:srgbClr val="FFFFFF"/>
                </a:solidFill>
              </a:rPr>
              <a:t>Excel拡張子問題 対応方針  |  5 / 5</a:t>
            </a:r>
          </a:p>
        </p:txBody>
      </p:sp>
      <p:sp>
        <p:nvSpPr>
          <p:cNvPr id="8" name="Rectangle 7"/>
          <p:cNvSpPr/>
          <p:nvPr/>
        </p:nvSpPr>
        <p:spPr>
          <a:xfrm>
            <a:off x="365760" y="1325880"/>
            <a:ext cx="11430000" cy="960120"/>
          </a:xfrm>
          <a:prstGeom prst="rect">
            <a:avLst/>
          </a:prstGeom>
          <a:solidFill>
            <a:srgbClr val="F2F2F2"/>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25880"/>
            <a:ext cx="502920" cy="96012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81912"/>
            <a:ext cx="502920" cy="457200"/>
          </a:xfrm>
          <a:prstGeom prst="rect">
            <a:avLst/>
          </a:prstGeom>
          <a:noFill/>
        </p:spPr>
        <p:txBody>
          <a:bodyPr wrap="square">
            <a:spAutoFit/>
          </a:bodyPr>
          <a:lstStyle/>
          <a:p>
            <a:pPr algn="ctr"/>
            <a:r>
              <a:rPr sz="1600" b="1">
                <a:solidFill>
                  <a:srgbClr val="FFFFFF"/>
                </a:solidFill>
              </a:rPr>
              <a:t>1</a:t>
            </a:r>
          </a:p>
        </p:txBody>
      </p:sp>
      <p:sp>
        <p:nvSpPr>
          <p:cNvPr id="11" name="TextBox 10"/>
          <p:cNvSpPr txBox="1"/>
          <p:nvPr/>
        </p:nvSpPr>
        <p:spPr>
          <a:xfrm>
            <a:off x="987552" y="1371600"/>
            <a:ext cx="10515600" cy="384048"/>
          </a:xfrm>
          <a:prstGeom prst="rect">
            <a:avLst/>
          </a:prstGeom>
          <a:noFill/>
        </p:spPr>
        <p:txBody>
          <a:bodyPr wrap="square">
            <a:spAutoFit/>
          </a:bodyPr>
          <a:lstStyle/>
          <a:p>
            <a:pPr algn="l"/>
            <a:r>
              <a:rPr sz="1300" b="1">
                <a:solidFill>
                  <a:srgbClr val="1F3564"/>
                </a:solidFill>
              </a:rPr>
              <a:t>□  RPA 対応リソース確認</a:t>
            </a:r>
          </a:p>
        </p:txBody>
      </p:sp>
      <p:sp>
        <p:nvSpPr>
          <p:cNvPr id="12" name="TextBox 11"/>
          <p:cNvSpPr txBox="1"/>
          <p:nvPr/>
        </p:nvSpPr>
        <p:spPr>
          <a:xfrm>
            <a:off x="987552" y="1783080"/>
            <a:ext cx="10515600" cy="457200"/>
          </a:xfrm>
          <a:prstGeom prst="rect">
            <a:avLst/>
          </a:prstGeom>
          <a:noFill/>
        </p:spPr>
        <p:txBody>
          <a:bodyPr wrap="square">
            <a:spAutoFit/>
          </a:bodyPr>
          <a:lstStyle/>
          <a:p>
            <a:pPr algn="l"/>
            <a:r>
              <a:rPr sz="1200" b="0">
                <a:solidFill>
                  <a:srgbClr val="000000"/>
                </a:solidFill>
              </a:rPr>
              <a:t>A-2（お客様側RPA作成）について、対応可能なリソース・担当者はいますか？</a:t>
            </a:r>
          </a:p>
        </p:txBody>
      </p:sp>
      <p:sp>
        <p:nvSpPr>
          <p:cNvPr id="13" name="Rectangle 12"/>
          <p:cNvSpPr/>
          <p:nvPr/>
        </p:nvSpPr>
        <p:spPr>
          <a:xfrm>
            <a:off x="365760" y="2455163"/>
            <a:ext cx="11430000" cy="960120"/>
          </a:xfrm>
          <a:prstGeom prst="rect">
            <a:avLst/>
          </a:prstGeom>
          <a:solidFill>
            <a:srgbClr val="F2F2F2"/>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2455163"/>
            <a:ext cx="502920" cy="9601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711196"/>
            <a:ext cx="502920" cy="457200"/>
          </a:xfrm>
          <a:prstGeom prst="rect">
            <a:avLst/>
          </a:prstGeom>
          <a:noFill/>
        </p:spPr>
        <p:txBody>
          <a:bodyPr wrap="square">
            <a:spAutoFit/>
          </a:bodyPr>
          <a:lstStyle/>
          <a:p>
            <a:pPr algn="ctr"/>
            <a:r>
              <a:rPr sz="1600" b="1">
                <a:solidFill>
                  <a:srgbClr val="FFFFFF"/>
                </a:solidFill>
              </a:rPr>
              <a:t>2</a:t>
            </a:r>
          </a:p>
        </p:txBody>
      </p:sp>
      <p:sp>
        <p:nvSpPr>
          <p:cNvPr id="16" name="TextBox 15"/>
          <p:cNvSpPr txBox="1"/>
          <p:nvPr/>
        </p:nvSpPr>
        <p:spPr>
          <a:xfrm>
            <a:off x="987552" y="2500883"/>
            <a:ext cx="10515600" cy="384048"/>
          </a:xfrm>
          <a:prstGeom prst="rect">
            <a:avLst/>
          </a:prstGeom>
          <a:noFill/>
        </p:spPr>
        <p:txBody>
          <a:bodyPr wrap="square">
            <a:spAutoFit/>
          </a:bodyPr>
          <a:lstStyle/>
          <a:p>
            <a:pPr algn="l"/>
            <a:r>
              <a:rPr sz="1300" b="1">
                <a:solidFill>
                  <a:srgbClr val="1F3564"/>
                </a:solidFill>
              </a:rPr>
              <a:t>□  帳票レイアウト変更の可否</a:t>
            </a:r>
          </a:p>
        </p:txBody>
      </p:sp>
      <p:sp>
        <p:nvSpPr>
          <p:cNvPr id="17" name="TextBox 16"/>
          <p:cNvSpPr txBox="1"/>
          <p:nvPr/>
        </p:nvSpPr>
        <p:spPr>
          <a:xfrm>
            <a:off x="987552" y="2912363"/>
            <a:ext cx="10515600" cy="457200"/>
          </a:xfrm>
          <a:prstGeom prst="rect">
            <a:avLst/>
          </a:prstGeom>
          <a:noFill/>
        </p:spPr>
        <p:txBody>
          <a:bodyPr wrap="square">
            <a:spAutoFit/>
          </a:bodyPr>
          <a:lstStyle/>
          <a:p>
            <a:pPr algn="l"/>
            <a:r>
              <a:rPr sz="1200" b="0">
                <a:solidFill>
                  <a:srgbClr val="000000"/>
                </a:solidFill>
              </a:rPr>
              <a:t>B案採用の場合、エンドユーザーとのレイアウト変更に関する調整は可能ですか？</a:t>
            </a:r>
          </a:p>
        </p:txBody>
      </p:sp>
      <p:sp>
        <p:nvSpPr>
          <p:cNvPr id="18" name="Rectangle 17"/>
          <p:cNvSpPr/>
          <p:nvPr/>
        </p:nvSpPr>
        <p:spPr>
          <a:xfrm>
            <a:off x="365760" y="3584448"/>
            <a:ext cx="11430000" cy="960120"/>
          </a:xfrm>
          <a:prstGeom prst="rect">
            <a:avLst/>
          </a:prstGeom>
          <a:solidFill>
            <a:srgbClr val="F2F2F2"/>
          </a:solidFill>
          <a:ln w="1270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584448"/>
            <a:ext cx="502920" cy="96012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3840480"/>
            <a:ext cx="502920" cy="457200"/>
          </a:xfrm>
          <a:prstGeom prst="rect">
            <a:avLst/>
          </a:prstGeom>
          <a:noFill/>
        </p:spPr>
        <p:txBody>
          <a:bodyPr wrap="square">
            <a:spAutoFit/>
          </a:bodyPr>
          <a:lstStyle/>
          <a:p>
            <a:pPr algn="ctr"/>
            <a:r>
              <a:rPr sz="1600" b="1">
                <a:solidFill>
                  <a:srgbClr val="FFFFFF"/>
                </a:solidFill>
              </a:rPr>
              <a:t>3</a:t>
            </a:r>
          </a:p>
        </p:txBody>
      </p:sp>
      <p:sp>
        <p:nvSpPr>
          <p:cNvPr id="21" name="TextBox 20"/>
          <p:cNvSpPr txBox="1"/>
          <p:nvPr/>
        </p:nvSpPr>
        <p:spPr>
          <a:xfrm>
            <a:off x="987552" y="3630168"/>
            <a:ext cx="10515600" cy="384048"/>
          </a:xfrm>
          <a:prstGeom prst="rect">
            <a:avLst/>
          </a:prstGeom>
          <a:noFill/>
        </p:spPr>
        <p:txBody>
          <a:bodyPr wrap="square">
            <a:spAutoFit/>
          </a:bodyPr>
          <a:lstStyle/>
          <a:p>
            <a:pPr algn="l"/>
            <a:r>
              <a:rPr sz="1300" b="1">
                <a:solidFill>
                  <a:srgbClr val="1F3564"/>
                </a:solidFill>
              </a:rPr>
              <a:t>□  見積もり着手の承認</a:t>
            </a:r>
          </a:p>
        </p:txBody>
      </p:sp>
      <p:sp>
        <p:nvSpPr>
          <p:cNvPr id="22" name="TextBox 21"/>
          <p:cNvSpPr txBox="1"/>
          <p:nvPr/>
        </p:nvSpPr>
        <p:spPr>
          <a:xfrm>
            <a:off x="987552" y="4041648"/>
            <a:ext cx="10515600" cy="457200"/>
          </a:xfrm>
          <a:prstGeom prst="rect">
            <a:avLst/>
          </a:prstGeom>
          <a:noFill/>
        </p:spPr>
        <p:txBody>
          <a:bodyPr wrap="square">
            <a:spAutoFit/>
          </a:bodyPr>
          <a:lstStyle/>
          <a:p>
            <a:pPr algn="l"/>
            <a:r>
              <a:rPr sz="1200" b="0">
                <a:solidFill>
                  <a:srgbClr val="000000"/>
                </a:solidFill>
              </a:rPr>
              <a:t>B案を検討する場合、修正工数の見積もり作業に着手してよいですか？</a:t>
            </a:r>
          </a:p>
        </p:txBody>
      </p:sp>
      <p:sp>
        <p:nvSpPr>
          <p:cNvPr id="23" name="Rectangle 22"/>
          <p:cNvSpPr/>
          <p:nvPr/>
        </p:nvSpPr>
        <p:spPr>
          <a:xfrm>
            <a:off x="365760" y="4713732"/>
            <a:ext cx="11430000" cy="960120"/>
          </a:xfrm>
          <a:prstGeom prst="rect">
            <a:avLst/>
          </a:prstGeom>
          <a:solidFill>
            <a:srgbClr val="F2F2F2"/>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4713732"/>
            <a:ext cx="502920" cy="9601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4969764"/>
            <a:ext cx="502920" cy="457200"/>
          </a:xfrm>
          <a:prstGeom prst="rect">
            <a:avLst/>
          </a:prstGeom>
          <a:noFill/>
        </p:spPr>
        <p:txBody>
          <a:bodyPr wrap="square">
            <a:spAutoFit/>
          </a:bodyPr>
          <a:lstStyle/>
          <a:p>
            <a:pPr algn="ctr"/>
            <a:r>
              <a:rPr sz="1600" b="1">
                <a:solidFill>
                  <a:srgbClr val="FFFFFF"/>
                </a:solidFill>
              </a:rPr>
              <a:t>4</a:t>
            </a:r>
          </a:p>
        </p:txBody>
      </p:sp>
      <p:sp>
        <p:nvSpPr>
          <p:cNvPr id="26" name="TextBox 25"/>
          <p:cNvSpPr txBox="1"/>
          <p:nvPr/>
        </p:nvSpPr>
        <p:spPr>
          <a:xfrm>
            <a:off x="987552" y="4759452"/>
            <a:ext cx="10515600" cy="384048"/>
          </a:xfrm>
          <a:prstGeom prst="rect">
            <a:avLst/>
          </a:prstGeom>
          <a:noFill/>
        </p:spPr>
        <p:txBody>
          <a:bodyPr wrap="square">
            <a:spAutoFit/>
          </a:bodyPr>
          <a:lstStyle/>
          <a:p>
            <a:pPr algn="l"/>
            <a:r>
              <a:rPr sz="1300" b="1">
                <a:solidFill>
                  <a:srgbClr val="1F3564"/>
                </a:solidFill>
              </a:rPr>
              <a:t>□  A-1 申請の並行実施</a:t>
            </a:r>
          </a:p>
        </p:txBody>
      </p:sp>
      <p:sp>
        <p:nvSpPr>
          <p:cNvPr id="27" name="TextBox 26"/>
          <p:cNvSpPr txBox="1"/>
          <p:nvPr/>
        </p:nvSpPr>
        <p:spPr>
          <a:xfrm>
            <a:off x="987552" y="5170932"/>
            <a:ext cx="10515600" cy="457200"/>
          </a:xfrm>
          <a:prstGeom prst="rect">
            <a:avLst/>
          </a:prstGeom>
          <a:noFill/>
        </p:spPr>
        <p:txBody>
          <a:bodyPr wrap="square">
            <a:spAutoFit/>
          </a:bodyPr>
          <a:lstStyle/>
          <a:p>
            <a:pPr algn="l"/>
            <a:r>
              <a:rPr sz="1200" b="0">
                <a:solidFill>
                  <a:srgbClr val="000000"/>
                </a:solidFill>
              </a:rPr>
              <a:t>A-2 を進めながら、担当者への A-1 申請も並行して行ってよいですか？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